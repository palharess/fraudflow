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Abertura, 15 segundos. Nome do projeto e o tamanho do problema: 1,3 milhao de transacoes, das quais 0,58% sao fraude. Encontrar essas 7.506 e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segundos. O mapa do pipeline. A frase que importa: cada camada so depende da anterior, entao da para refazer sem baixar nada de novo. E a resposta para "por que tres camadas em vez de uma?".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segundos. Le so as linhas em negrito. O ponto central: a Bronze e copia fiel, nao conserta nada, e isso e decisao de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segundos, o slide mais denso. Destaque a inconsistencia de sete anos: e o achado que mostra investigacao de verdade. Termine na faixa de resultado: zero, zero,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segundos. O ponto: sao dois consumidores diferentes. O ml_input e a lista de pacientes individuais; o fraud_analytics e o boletim epidemiologico. Termine anunciando o TRANSFORM.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segundos. Se o tempo apertar, este e o primeiro slide a cortar — da para resumir em uma frase no slide anterior. O exemplo do hora &lt;= 6 vs hora &lt; 6 e o que faz a ideia aterrissar.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transicao. Troque para o BigQuery aqui. Quatro consultas, cerca de dois minutos no total. Nao volte para os slides ate terminar a inferencia.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segundos. Lidere pelo recall, nunca pela acuracia. E fale a frase de honestidade voce mesmo, antes que alguem pergunte — vira ponto positivo em vez de defeito.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segundos, so o fecho. O holdout lacrado e o que liga as tres entregas: o modelo vai classificar um futuro que nunca viu.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apresentar. Fica no arquivo caso o professor pergunte. As tres perguntas mais provaveis, ja respondidas.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DADOS MASSIVOS  ·  TRABALHO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FraudFlow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 em transações de cartão com Arquitetura Medallion e BigQuery ML.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B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1.296.675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PROCESSADAS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B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7.506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NO PERÍODO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B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0,58%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BASE — O DESAFIO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——  ·  ——  ·  ——  ·  ——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CSV bruto ao modelo, tudo dentro do BigQuery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3716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6671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31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bruto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249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 MB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66544" y="2697480"/>
            <a:ext cx="310896" cy="0"/>
          </a:xfrm>
          <a:prstGeom prst="line">
            <a:avLst/>
          </a:prstGeom>
          <a:noFill/>
          <a:ln w="15875">
            <a:solidFill>
              <a:srgbClr val="66717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50592" y="201168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8C5A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50592" y="213969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450592" y="23957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espelho do arquivo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50592" y="263347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texto + linhagem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50592" y="28346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1.296.675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9976" y="2697480"/>
            <a:ext cx="310896" cy="0"/>
          </a:xfrm>
          <a:prstGeom prst="line">
            <a:avLst/>
          </a:prstGeom>
          <a:noFill/>
          <a:ln w="15875">
            <a:solidFill>
              <a:srgbClr val="6671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64024" y="201168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56637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64024" y="21396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56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3957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canônicos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26334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tipagem, dedup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28346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particionada por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68896" y="1508760"/>
            <a:ext cx="1965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9670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68896" y="16367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967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ML_INPUT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18928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do modelo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68896" y="21305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campos + rótulo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68896" y="3017520"/>
            <a:ext cx="1965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9670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68896" y="314553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967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ANALYTICS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68896" y="34015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de negócio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68896" y="3639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12.122 linhas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84848" y="2697480"/>
            <a:ext cx="164592" cy="0"/>
          </a:xfrm>
          <a:prstGeom prst="line">
            <a:avLst/>
          </a:prstGeom>
          <a:noFill/>
          <a:ln w="15875">
            <a:solidFill>
              <a:srgbClr val="6671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1965960"/>
            <a:ext cx="0" cy="1508760"/>
          </a:xfrm>
          <a:prstGeom prst="line">
            <a:avLst/>
          </a:prstGeom>
          <a:noFill/>
          <a:ln w="15875">
            <a:solidFill>
              <a:srgbClr val="6671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1965960"/>
            <a:ext cx="219456" cy="0"/>
          </a:xfrm>
          <a:prstGeom prst="line">
            <a:avLst/>
          </a:prstGeom>
          <a:noFill/>
          <a:ln w="15875">
            <a:solidFill>
              <a:srgbClr val="66717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49440" y="3474720"/>
            <a:ext cx="219456" cy="0"/>
          </a:xfrm>
          <a:prstGeom prst="line">
            <a:avLst/>
          </a:prstGeom>
          <a:noFill/>
          <a:ln w="15875">
            <a:solidFill>
              <a:srgbClr val="66717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89720" y="1965960"/>
            <a:ext cx="310896" cy="0"/>
          </a:xfrm>
          <a:prstGeom prst="line">
            <a:avLst/>
          </a:prstGeom>
          <a:noFill/>
          <a:ln w="15875">
            <a:solidFill>
              <a:srgbClr val="66717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73768" y="1508760"/>
            <a:ext cx="1947672" cy="2423160"/>
          </a:xfrm>
          <a:prstGeom prst="roundRect">
            <a:avLst>
              <a:gd name="adj" fmla="val 2347"/>
            </a:avLst>
          </a:prstGeom>
          <a:solidFill>
            <a:srgbClr val="F4F6F8"/>
          </a:solidFill>
          <a:ln w="15875">
            <a:solidFill>
              <a:srgbClr val="0D7A8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73768" y="1645920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ML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729216" y="1965960"/>
            <a:ext cx="163677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29216" y="204825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— 9 features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729216" y="2441448"/>
            <a:ext cx="163677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29216" y="252374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regressão logística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729216" y="2916936"/>
            <a:ext cx="1636776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D7A8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29216" y="2999232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boosted tree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573768" y="349300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 no Vertex AI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0749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só depende da anterior. </a:t>
            </a:r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Silver estiver errada, refaz a partir da Bronze — sem baixar nada de novo.</a:t>
            </a:r>
            <a:pPr indent="0" marL="0">
              <a:buNone/>
            </a:pPr>
            <a:r>
              <a:rPr lang="en-US" sz="14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que torna o pipeline auditável e refazível.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 ·  BRONZE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camada que não conserta nada — de propósito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18872" cy="118872"/>
          </a:xfrm>
          <a:prstGeom prst="ellipse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013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direta do Cloud Storage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6654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BigQuery lê o arquivo sozinho, em paralelo. Nenhum dado passa pelo notebook — e carga em lote é gratuita.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18872" cy="118872"/>
          </a:xfrm>
          <a:prstGeom prst="ellipse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700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23 colunas guardadas como texto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3522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na entrada faria a carga falhar por causa de uma linha ruim. Como texto, nada se perde, e a decisão de corrigir passa a ser da Silver.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18872" cy="118872"/>
          </a:xfrm>
          <a:prstGeom prst="ellipse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53872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colunas de linhagem: source_file e ingestion_timestamp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0390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provar de qual arquivo cada linha veio — a evidência de que o conjunto de teste ficou de fora.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18872" cy="118872"/>
          </a:xfrm>
          <a:prstGeom prst="ellipse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40740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particionamento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672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carga aconteceu de uma vez só: particionar por data de ingestão criaria uma única partição gigante, sem ganho nenhum.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568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1.296.675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CARREGADAS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5577840"/>
            <a:ext cx="0" cy="56692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9392" y="5568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279392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(23 + LINHAGEM)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5577840"/>
            <a:ext cx="0" cy="56692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54112" y="5568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754112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TRAFEGARAM PELO NOTEBOOK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56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 ·  SILVER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 que se prova com número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18872" cy="118872"/>
          </a:xfrm>
          <a:prstGeom prst="ellipse">
            <a:avLst/>
          </a:prstGeom>
          <a:solidFill>
            <a:srgbClr val="566374"/>
          </a:solidFill>
          <a:ln w="12700">
            <a:solidFill>
              <a:srgbClr val="56637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com SAFE_CAST e SAFE.PARSE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2082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vira número, data e timestamp. O que não converte vira nulo em vez de derrubar a consulta — o descarte fica controlado e contável.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18872" cy="118872"/>
          </a:xfrm>
          <a:prstGeom prst="ellipse">
            <a:avLst/>
          </a:prstGeom>
          <a:solidFill>
            <a:srgbClr val="566374"/>
          </a:solidFill>
          <a:ln w="12700">
            <a:solidFill>
              <a:srgbClr val="5663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328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Resolvida uma inconsistência de sete anos no dataset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9806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colunas de tempo discordavam em exatamente sete anos-calendário. Calcular idade pela errada deixaria todo cliente sete anos mais novo, sem erro aparecer.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18872" cy="118872"/>
          </a:xfrm>
          <a:prstGeom prst="ellipse">
            <a:avLst/>
          </a:prstGeom>
          <a:solidFill>
            <a:srgbClr val="566374"/>
          </a:solidFill>
          <a:ln w="12700">
            <a:solidFill>
              <a:srgbClr val="5663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31012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fraud_ removido dos 693 comerciantes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7530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do gerador, presente também em transações legítimas. Deixá-lo convida a um filtro acidental.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18872" cy="118872"/>
          </a:xfrm>
          <a:prstGeom prst="ellipse">
            <a:avLst/>
          </a:prstGeom>
          <a:solidFill>
            <a:srgbClr val="566374"/>
          </a:solidFill>
          <a:ln w="12700">
            <a:solidFill>
              <a:srgbClr val="5663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0873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regras de sanidade e deduplicação global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5254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na faixa válida, nascimento anterior à compra, rótulo apenas 0 ou 1. A deduplicação roda em SQL, com a tabela inteira à vista.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18872" cy="118872"/>
          </a:xfrm>
          <a:prstGeom prst="ellipse">
            <a:avLst/>
          </a:prstGeom>
          <a:solidFill>
            <a:srgbClr val="566374"/>
          </a:solidFill>
          <a:ln w="12700">
            <a:solidFill>
              <a:srgbClr val="5663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86460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deixados de fora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297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rua, CEP, gênero e profissão não entram. Não trazê-los torna a escolha verificável.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424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663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705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6016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PERDIDAS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5715000"/>
            <a:ext cx="0" cy="56692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0712" y="5705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410712" y="6016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5715000"/>
            <a:ext cx="0" cy="56692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16752" y="5705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6016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RESTANTE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58200" y="5715000"/>
            <a:ext cx="0" cy="56692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22792" y="5705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21/06/2020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622792" y="6016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JANELA — HOLDOUT INTACTO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67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 ·  GOLD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saídas, porque são dois consumidores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67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GOLD.ML_INPUT  —  PARA O MODELO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18872" cy="118872"/>
          </a:xfrm>
          <a:prstGeom prst="ellipse">
            <a:avLst/>
          </a:prstGeom>
          <a:solidFill>
            <a:srgbClr val="96700B"/>
          </a:solidFill>
          <a:ln w="12700">
            <a:solidFill>
              <a:srgbClr val="9670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67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contrato, em forma de tabela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exatamente quais campos o modelo consome. Em outubro, o evento do streaming terá esses mesmos campos.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18872" cy="118872"/>
          </a:xfrm>
          <a:prstGeom prst="ellipse">
            <a:avLst/>
          </a:prstGeom>
          <a:solidFill>
            <a:srgbClr val="96700B"/>
          </a:solidFill>
          <a:ln w="12700">
            <a:solidFill>
              <a:srgbClr val="9670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172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transação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3814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campos, mais o rótulo e o identificador — usado para juntar a resposta verdadeira depois da predição.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0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4379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67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1.296.675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690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783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67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GOLD.FRAUD_ANALYTICS  —  PARA O NEGÓCIO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118872" cy="118872"/>
          </a:xfrm>
          <a:prstGeom prst="ellipse">
            <a:avLst/>
          </a:prstGeom>
          <a:solidFill>
            <a:srgbClr val="96700B"/>
          </a:solidFill>
          <a:ln w="12700">
            <a:solidFill>
              <a:srgbClr val="9670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2167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por categoria, hora e estado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43230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de fraude, ticket médio e volume. É o que um painel consome e o que vira slide.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3291840"/>
            <a:ext cx="118872" cy="118872"/>
          </a:xfrm>
          <a:prstGeom prst="ellipse">
            <a:avLst/>
          </a:prstGeom>
          <a:solidFill>
            <a:srgbClr val="96700B"/>
          </a:solidFill>
          <a:ln w="12700">
            <a:solidFill>
              <a:srgbClr val="9670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3172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grupo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43814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também por dia deixaria quase uma linha por transação, e a taxa de fraude viraria 0% ou 100%.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429768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0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56832" y="4379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67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12.122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4690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AGREGADAS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feature do modelo é calculada aqui. </a:t>
            </a:r>
            <a:pPr indent="0" marL="0">
              <a:buNone/>
            </a:pPr>
            <a:r>
              <a:rPr lang="en-US" sz="14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ficam no TRANSFORM — próximo slide.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 ·  A DECISÃO DE ARQUITETURA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features nascem dentro do modelo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NOVE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18872" cy="118872"/>
          </a:xfrm>
          <a:prstGeom prst="ellipse">
            <a:avLst/>
          </a:prstGeom>
          <a:solidFill>
            <a:srgbClr val="0D7A84"/>
          </a:solidFill>
          <a:ln w="12700">
            <a:solidFill>
              <a:srgbClr val="0D7A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67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day_of_week, is_night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Extraídas do timestamp.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18872" cy="118872"/>
          </a:xfrm>
          <a:prstGeom prst="ellipse">
            <a:avLst/>
          </a:prstGeom>
          <a:solidFill>
            <a:srgbClr val="0D7A84"/>
          </a:solidFill>
          <a:ln w="12700">
            <a:solidFill>
              <a:srgbClr val="0D7A8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0098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na data da compra, com ajuste para o aniversário que ainda não passou no ano.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118872" cy="118872"/>
          </a:xfrm>
          <a:prstGeom prst="ellipse">
            <a:avLst/>
          </a:prstGeom>
          <a:solidFill>
            <a:srgbClr val="0D7A84"/>
          </a:solidFill>
          <a:ln w="12700">
            <a:solidFill>
              <a:srgbClr val="0D7A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904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6966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entre cliente e comerciante — distância sobre a superfície curva da Terra.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18872" cy="118872"/>
          </a:xfrm>
          <a:prstGeom prst="ellipse">
            <a:avLst/>
          </a:prstGeom>
          <a:solidFill>
            <a:srgbClr val="0D7A84"/>
          </a:solidFill>
          <a:ln w="12700">
            <a:solidFill>
              <a:srgbClr val="0D7A8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73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log_amount, category, city_pop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3834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Valor, sua escala comprimida, categoria e porte da cidade.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783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DENTRO DO MODELO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219456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0D7A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23957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TRANSFORM é salvo </a:t>
            </a:r>
            <a:pPr indent="0" marL="0">
              <a:buNone/>
            </a:pPr>
            <a:r>
              <a:rPr lang="en-US" sz="1500" b="1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com o modelo</a:t>
            </a:r>
            <a:pPr indent="0" marL="0">
              <a:buNone/>
            </a:pPr>
            <a:r>
              <a:rPr lang="en-US" sz="1500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Em outubro, a API do Vertex AI aplica exatamente este código.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6576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features fossem calculadas na Silver, existiriam </a:t>
            </a:r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implementações</a:t>
            </a:r>
            <a:pPr indent="0" marL="0">
              <a:buNone/>
            </a:pPr>
            <a:r>
              <a:rPr lang="en-US" sz="13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uma em SQL e outra na API — livres para divergir. Bastaria alguém escrever </a:t>
            </a:r>
            <a:pPr indent="0" marL="0">
              <a:buNone/>
            </a:pPr>
            <a:r>
              <a:rPr lang="en-US" sz="1300" dirty="0">
                <a:solidFill>
                  <a:srgbClr val="A96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&lt;= 6</a:t>
            </a:r>
            <a:pPr indent="0" marL="0">
              <a:buNone/>
            </a:pPr>
            <a:r>
              <a:rPr lang="en-US" sz="13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lado e </a:t>
            </a:r>
            <a:pPr indent="0" marL="0">
              <a:buNone/>
            </a:pPr>
            <a:r>
              <a:rPr lang="en-US" sz="1300" dirty="0">
                <a:solidFill>
                  <a:srgbClr val="A96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&lt; 6</a:t>
            </a:r>
            <a:pPr indent="0" marL="0">
              <a:buNone/>
            </a:pPr>
            <a:r>
              <a:rPr lang="en-US" sz="13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outro para o modelo passar a receber, em produção, features diferentes das que viu no treino.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  ·  BIGQUERY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está em produção — vamos consultá-lo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402336" cy="402336"/>
          </a:xfrm>
          <a:prstGeom prst="ellipse">
            <a:avLst/>
          </a:prstGeom>
          <a:solidFill>
            <a:srgbClr val="1C2430"/>
          </a:solidFill>
          <a:ln w="12700">
            <a:solidFill>
              <a:srgbClr val="4FB8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58775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24963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o espelho fiel do arquivo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788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como texto, com a linhagem de origem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1C2430"/>
          </a:solidFill>
          <a:ln w="12700">
            <a:solidFill>
              <a:srgbClr val="4FB8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45643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3649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limpeza provada por número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duplicatas, zero prefixo, janela até 21/06/2020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402336" cy="402336"/>
          </a:xfrm>
          <a:prstGeom prst="ellipse">
            <a:avLst/>
          </a:prstGeom>
          <a:solidFill>
            <a:srgbClr val="1C2430"/>
          </a:solidFill>
          <a:ln w="12700">
            <a:solidFill>
              <a:srgbClr val="4FB8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3251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2336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a camada de negócio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526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milhão de linhas viram 12 mil agregadas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402336" cy="402336"/>
          </a:xfrm>
          <a:prstGeom prst="ellipse">
            <a:avLst/>
          </a:prstGeom>
          <a:solidFill>
            <a:srgbClr val="1C2430"/>
          </a:solidFill>
          <a:ln w="12700">
            <a:solidFill>
              <a:srgbClr val="4FB8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9379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023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ML — inferência ao vivo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394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pontua sem receber o rótulo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e precision, não acurácia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09728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6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6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6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6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671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C4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· logística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C4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C4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C4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C4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D7A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· boosted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 de validação — os 20% finais por tempo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11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“não é fraude” sempre daria 99,41% de acurácia</a:t>
            </a:r>
            <a:pPr indent="0" marL="0">
              <a:buNone/>
            </a:pPr>
            <a:r>
              <a:rPr lang="en-US" sz="135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mais que os 98,63% do nosso modelo. É por isso que acurácia não serve aqui.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828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  ·  V2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240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cada 100 fraudes, o modelo captura </a:t>
            </a:r>
            <a:pPr indent="0" marL="0">
              <a:buNone/>
            </a:pPr>
            <a:r>
              <a:rPr lang="en-US" sz="2200" b="1" dirty="0">
                <a:solidFill>
                  <a:srgbClr val="0D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pPr indent="0" marL="0">
              <a:buNone/>
            </a:pPr>
            <a:r>
              <a:rPr lang="en-US" sz="2200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880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troca, marca </a:t>
            </a:r>
            <a:pPr indent="0" marL="0">
              <a:buNone/>
            </a:pPr>
            <a:r>
              <a:rPr lang="en-US" sz="1800" b="1" dirty="0">
                <a:solidFill>
                  <a:srgbClr val="0D7A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1,36%</a:t>
            </a:r>
            <a:pPr indent="0" marL="0">
              <a:buNone/>
            </a:pPr>
            <a:r>
              <a:rPr lang="en-US" sz="1800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 transações legítimas para revisão — não para bloqueio.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92240" y="3931920"/>
            <a:ext cx="5029200" cy="1691640"/>
          </a:xfrm>
          <a:prstGeom prst="roundRect">
            <a:avLst>
              <a:gd name="adj" fmla="val 2703"/>
            </a:avLst>
          </a:prstGeom>
          <a:solidFill>
            <a:srgbClr val="FBF3E7"/>
          </a:solidFill>
          <a:ln w="12700">
            <a:solidFill>
              <a:srgbClr val="A9670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41148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6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Honestidade: </a:t>
            </a:r>
            <a:pPr indent="0" marL="0">
              <a:buNone/>
            </a:pPr>
            <a:r>
              <a:rPr lang="en-US" sz="125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é sintético e as separações são limpas demais. A madrugada tem 18× mais fraude — e o modelo elegeu is_night como feature mais decisiva, com folga de 3×. Ele redescobriu a regra do simulador.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EVOLUI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conjunto de teste ficou lacrado — de propósito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split do dataset é temporal. O treino vai até 21 de junho de 2020; o período seguinte nunca entrou no BigQuery e está guardado no Cloud Storage.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0" cy="2194560"/>
          </a:xfrm>
          <a:prstGeom prst="roundRect">
            <a:avLst>
              <a:gd name="adj" fmla="val 2083"/>
            </a:avLst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971800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2  ·  23 DE OUTUBRO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337560"/>
            <a:ext cx="4443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período guardado vira um stream via Pub/Sub e Dataflow, e o modelo — já registrado no Vertex AI — passa a classificar transações de um futuro que nunca viu, servido por uma API no Cloud Run.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2743200"/>
            <a:ext cx="5029200" cy="2194560"/>
          </a:xfrm>
          <a:prstGeom prst="roundRect">
            <a:avLst>
              <a:gd name="adj" fmla="val 2083"/>
            </a:avLst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84848" y="2971800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D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FINAL  ·  4 DE DEZEMBRO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3337560"/>
            <a:ext cx="4443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Dataflow chama a API em tempo real, enriquece cada evento com o score antes de gravar, e o ciclo inteiro passa a ser orquestrado.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A96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 ·  NÃO APRESENTAR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perguntarem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“Onde está o enriquecimento da Silver, se ela não cria features?”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1518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enriquecimento dela é semântico: resolve a inconsistência de sete anos entre as duas colunas de tempo, remove o prefixo fraud_, deduplica e normaliza os nomes. As features derivadas ficam no TRANSFORM por decisão de arquitetura — para existir uma só implementação, que viaja com o modelo até o Vertex AI.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“É BigQuery ML puro mesmo, rodando de um notebook?”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8678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O modelo é 100% SQL — o notebook apenas envia a instrução ao BigQuery. Os arquivos em sql/ml/ trazem o mesmo código sem nenhum Python em volta.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“Por que a precision é baixa?”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5838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modelo usa pesos de classe e opera num ponto que privilegia capturar fraude. Os 3.516 falsos positivos são 1,36% do total e iriam para revisão manual, não para bloqueio. O limiar é um parâmetro de negócio.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0" y="6382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FraudFlow — Trabalho 1</dc:title>
  <dc:subject>PptxGenJS Presentation</dc:subject>
  <dc:creator>Grupo FraudFlow</dc:creator>
  <cp:lastModifiedBy>Grupo FraudFlow</cp:lastModifiedBy>
  <cp:revision>1</cp:revision>
  <dcterms:created xsi:type="dcterms:W3CDTF">2026-09-10T20:22:14Z</dcterms:created>
  <dcterms:modified xsi:type="dcterms:W3CDTF">2026-09-10T20:22:14Z</dcterms:modified>
</cp:coreProperties>
</file>